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</p:sldMasterIdLst>
  <p:notesMasterIdLst>
    <p:notesMasterId r:id="rId23"/>
  </p:notesMasterIdLst>
  <p:sldIdLst>
    <p:sldId id="257" r:id="rId2"/>
    <p:sldId id="566" r:id="rId3"/>
    <p:sldId id="484" r:id="rId4"/>
    <p:sldId id="513" r:id="rId5"/>
    <p:sldId id="546" r:id="rId6"/>
    <p:sldId id="547" r:id="rId7"/>
    <p:sldId id="545" r:id="rId8"/>
    <p:sldId id="549" r:id="rId9"/>
    <p:sldId id="548" r:id="rId10"/>
    <p:sldId id="550" r:id="rId11"/>
    <p:sldId id="551" r:id="rId12"/>
    <p:sldId id="552" r:id="rId13"/>
    <p:sldId id="553" r:id="rId14"/>
    <p:sldId id="554" r:id="rId15"/>
    <p:sldId id="555" r:id="rId16"/>
    <p:sldId id="556" r:id="rId17"/>
    <p:sldId id="557" r:id="rId18"/>
    <p:sldId id="558" r:id="rId19"/>
    <p:sldId id="559" r:id="rId20"/>
    <p:sldId id="283" r:id="rId21"/>
    <p:sldId id="40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B9C32-BD62-59A5-501C-F56C20C55D50}" v="1" dt="2024-07-16T07:42:5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7BB9C32-BD62-59A5-501C-F56C20C55D50}"/>
    <pc:docChg chg="addSld">
      <pc:chgData name="Suraj Chopade" userId="S::suraj.chopade@bostoninstituteofanalytics.org::dcc44ee8-6a65-4538-a5e1-c87e14ca7a61" providerId="AD" clId="Web-{97BB9C32-BD62-59A5-501C-F56C20C55D50}" dt="2024-07-16T07:42:52.247" v="0"/>
      <pc:docMkLst>
        <pc:docMk/>
      </pc:docMkLst>
      <pc:sldChg chg="add">
        <pc:chgData name="Suraj Chopade" userId="S::suraj.chopade@bostoninstituteofanalytics.org::dcc44ee8-6a65-4538-a5e1-c87e14ca7a61" providerId="AD" clId="Web-{97BB9C32-BD62-59A5-501C-F56C20C55D50}" dt="2024-07-16T07:42:52.247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B4495D69-4365-77F7-D1D2-0C8CC5AEAEBB}"/>
    <pc:docChg chg="modSld">
      <pc:chgData name="Suraj Chopade" userId="S::suraj.chopade@bostoninstituteofanalytics.org::dcc44ee8-6a65-4538-a5e1-c87e14ca7a61" providerId="AD" clId="Web-{B4495D69-4365-77F7-D1D2-0C8CC5AEAEBB}" dt="2024-04-26T06:58:13.530" v="3" actId="1076"/>
      <pc:docMkLst>
        <pc:docMk/>
      </pc:docMkLst>
      <pc:sldChg chg="modSp">
        <pc:chgData name="Suraj Chopade" userId="S::suraj.chopade@bostoninstituteofanalytics.org::dcc44ee8-6a65-4538-a5e1-c87e14ca7a61" providerId="AD" clId="Web-{B4495D69-4365-77F7-D1D2-0C8CC5AEAEBB}" dt="2024-04-26T06:57:57.576" v="1" actId="1076"/>
        <pc:sldMkLst>
          <pc:docMk/>
          <pc:sldMk cId="174547270" sldId="547"/>
        </pc:sldMkLst>
        <pc:picChg chg="mod">
          <ac:chgData name="Suraj Chopade" userId="S::suraj.chopade@bostoninstituteofanalytics.org::dcc44ee8-6a65-4538-a5e1-c87e14ca7a61" providerId="AD" clId="Web-{B4495D69-4365-77F7-D1D2-0C8CC5AEAEBB}" dt="2024-04-26T06:57:57.576" v="1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modSp">
        <pc:chgData name="Suraj Chopade" userId="S::suraj.chopade@bostoninstituteofanalytics.org::dcc44ee8-6a65-4538-a5e1-c87e14ca7a61" providerId="AD" clId="Web-{B4495D69-4365-77F7-D1D2-0C8CC5AEAEBB}" dt="2024-04-26T06:58:13.530" v="3" actId="1076"/>
        <pc:sldMkLst>
          <pc:docMk/>
          <pc:sldMk cId="2458439909" sldId="553"/>
        </pc:sldMkLst>
        <pc:picChg chg="mod">
          <ac:chgData name="Suraj Chopade" userId="S::suraj.chopade@bostoninstituteofanalytics.org::dcc44ee8-6a65-4538-a5e1-c87e14ca7a61" providerId="AD" clId="Web-{B4495D69-4365-77F7-D1D2-0C8CC5AEAEBB}" dt="2024-04-26T06:58:13.530" v="3" actId="1076"/>
          <ac:picMkLst>
            <pc:docMk/>
            <pc:sldMk cId="2458439909" sldId="553"/>
            <ac:picMk id="3" creationId="{BE7F6C93-148A-C656-42BC-AE411CBB6EE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9/notebooks/Desktop/SVM%20classifier%20-%20Breast%20Cancer%20Dataset%20(In-built).ipynb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9/notebooks/Desktop/KNN%20Classifier%20-%20Iris%20Dataset.ipynb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Note:- Use </a:t>
            </a:r>
            <a:r>
              <a:rPr lang="en-US" dirty="0" err="1"/>
              <a:t>Jupyter</a:t>
            </a:r>
            <a:r>
              <a:rPr lang="en-US" dirty="0"/>
              <a:t> file for this question - </a:t>
            </a:r>
            <a:r>
              <a:rPr lang="en-US" dirty="0">
                <a:hlinkClick r:id="rId3"/>
              </a:rPr>
              <a:t>SVM classifier - Breast Cancer Dataset (In-built).ipynb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057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Note:- Use </a:t>
            </a:r>
            <a:r>
              <a:rPr lang="en-US" dirty="0" err="1"/>
              <a:t>Jupyter</a:t>
            </a:r>
            <a:r>
              <a:rPr lang="en-US"/>
              <a:t> file for this question - </a:t>
            </a:r>
            <a:r>
              <a:rPr lang="en-US" dirty="0">
                <a:hlinkClick r:id="rId3"/>
              </a:rPr>
              <a:t>KNN Classifier - Iris Dataset.ipynb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982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216411" y="1350560"/>
            <a:ext cx="9042002" cy="4112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 to SVM (Support Vector Machine)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Concept of Margin and Support Vectors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Kernel Trick for Non-Linear Data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 to K-Nearest Neighbors (KNN)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How KNN Makes Predictions Based on Nearest Neighbors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Distance Metrics: Euclidean, Manhattan, and Others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Choosing the Value of K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Hands-On Practical Example: Classification and Regression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Day 8: Agenda</a:t>
            </a:r>
          </a:p>
        </p:txBody>
      </p:sp>
    </p:spTree>
    <p:extLst>
      <p:ext uri="{BB962C8B-B14F-4D97-AF65-F5344CB8AC3E}">
        <p14:creationId xmlns:p14="http://schemas.microsoft.com/office/powerpoint/2010/main" val="407657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026286" y="338510"/>
            <a:ext cx="814169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Support Vector Machine (SVM)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BC4160-0EFF-A161-FCC7-633841FECD26}"/>
              </a:ext>
            </a:extLst>
          </p:cNvPr>
          <p:cNvSpPr txBox="1"/>
          <p:nvPr/>
        </p:nvSpPr>
        <p:spPr>
          <a:xfrm>
            <a:off x="524604" y="1213944"/>
            <a:ext cx="1099267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SVM is a machine learning algorithm used for classification and regression.</a:t>
            </a:r>
            <a:endParaRPr lang="en-US" sz="22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It aims to find an optimal hyperplane to separate data into distinct classes or make regression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It's effective in high-dimensional spaces, handles non-linearity through kernel functions, and is less prone to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Nunito"/>
            </a:endParaRPr>
          </a:p>
          <a:p>
            <a:r>
              <a:rPr lang="en-US" sz="2200" b="1" dirty="0">
                <a:latin typeface="Nunito"/>
              </a:rPr>
              <a:t>Classification: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SVM separates data effectively, even in high 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It's robust against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The kernel trick allows it to handle non-linear data.</a:t>
            </a:r>
          </a:p>
          <a:p>
            <a:endParaRPr lang="en-US" sz="2200" b="1" dirty="0">
              <a:latin typeface="Nunito"/>
            </a:endParaRPr>
          </a:p>
          <a:p>
            <a:r>
              <a:rPr lang="en-US" sz="2200" b="1" dirty="0">
                <a:latin typeface="Nunito"/>
              </a:rPr>
              <a:t>Regression: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SVM can be used for regression by minimizing ε-insensitive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It's robust and can capture non-linear relationships using kernel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08001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107334" y="291213"/>
            <a:ext cx="3974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Margin in SVM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BC4160-0EFF-A161-FCC7-633841FECD26}"/>
              </a:ext>
            </a:extLst>
          </p:cNvPr>
          <p:cNvSpPr txBox="1"/>
          <p:nvPr/>
        </p:nvSpPr>
        <p:spPr>
          <a:xfrm>
            <a:off x="508838" y="972206"/>
            <a:ext cx="10992677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Definition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The margin in Support Vector Machine (SVM) is the gap between the decision boundary (hyperplane) and the nearest data points from different classes.</a:t>
            </a:r>
            <a:endParaRPr lang="en-US" dirty="0">
              <a:solidFill>
                <a:srgbClr val="000000"/>
              </a:solidFill>
              <a:latin typeface="Calibri" panose="020F0502020204030204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Significance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larger margin indicates a more confident and robust classification.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allows better generalization to unseen data.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Support Vectors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Support vectors are the data points closest to the decision boundary.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They influence the position of the hyperplane and the margin.</a:t>
            </a:r>
          </a:p>
        </p:txBody>
      </p:sp>
    </p:spTree>
    <p:extLst>
      <p:ext uri="{BB962C8B-B14F-4D97-AF65-F5344CB8AC3E}">
        <p14:creationId xmlns:p14="http://schemas.microsoft.com/office/powerpoint/2010/main" val="330857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pic>
        <p:nvPicPr>
          <p:cNvPr id="3" name="Picture 2" descr="Guide on Support Vector Machine (SVM) Algorithm">
            <a:extLst>
              <a:ext uri="{FF2B5EF4-FFF2-40B4-BE49-F238E27FC236}">
                <a16:creationId xmlns:a16="http://schemas.microsoft.com/office/drawing/2014/main" id="{39C330ED-4092-CF4F-463C-7D284EDDF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391" y="1468670"/>
            <a:ext cx="5674921" cy="4630812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4107334" y="291213"/>
            <a:ext cx="3974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Margin in SVM</a:t>
            </a:r>
          </a:p>
        </p:txBody>
      </p:sp>
    </p:spTree>
    <p:extLst>
      <p:ext uri="{BB962C8B-B14F-4D97-AF65-F5344CB8AC3E}">
        <p14:creationId xmlns:p14="http://schemas.microsoft.com/office/powerpoint/2010/main" val="17454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98478" y="416198"/>
            <a:ext cx="6991966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Hands-on: SVM Classified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00588-5E5B-4954-4F5B-35047777532C}"/>
              </a:ext>
            </a:extLst>
          </p:cNvPr>
          <p:cNvSpPr txBox="1"/>
          <p:nvPr/>
        </p:nvSpPr>
        <p:spPr>
          <a:xfrm>
            <a:off x="798828" y="1642428"/>
            <a:ext cx="10594426" cy="1065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Write a code for an ML model that incorporates an SVM classifier on the Breast Cancer dataset. Visualize the result using PCA.</a:t>
            </a:r>
          </a:p>
        </p:txBody>
      </p:sp>
    </p:spTree>
    <p:extLst>
      <p:ext uri="{BB962C8B-B14F-4D97-AF65-F5344CB8AC3E}">
        <p14:creationId xmlns:p14="http://schemas.microsoft.com/office/powerpoint/2010/main" val="96205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555112" y="294323"/>
            <a:ext cx="6988472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Handling Non-Linear Data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39BAA-9A63-3AD1-C3A5-F06110AC7B6B}"/>
              </a:ext>
            </a:extLst>
          </p:cNvPr>
          <p:cNvSpPr txBox="1"/>
          <p:nvPr/>
        </p:nvSpPr>
        <p:spPr>
          <a:xfrm>
            <a:off x="770099" y="1351722"/>
            <a:ext cx="10641494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Non-linear data refers to data with intricate,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non-linear relationships between features and classes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The kernel trick is a technique to address non-linearity, often used with SVM, transforming data into higher-dimensional spaces.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Linear classifiers, like SVM, struggle with non-linear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The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kernel trick avoids the need to explicitly map data to higher dimensions,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saving computational resources.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This technique enhances SVM's versatility by allowing it to establish non-linear decision boundaries for complex data distributions in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61085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938001" y="345123"/>
            <a:ext cx="4313006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Kernel Function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39BAA-9A63-3AD1-C3A5-F06110AC7B6B}"/>
              </a:ext>
            </a:extLst>
          </p:cNvPr>
          <p:cNvSpPr txBox="1"/>
          <p:nvPr/>
        </p:nvSpPr>
        <p:spPr>
          <a:xfrm>
            <a:off x="770099" y="1097722"/>
            <a:ext cx="10641494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  <a:ea typeface="Söhne"/>
                <a:cs typeface="Söhne"/>
              </a:rPr>
              <a:t>Kernel functions are mathematical functions used in SVM to transform input data into a higher-dimensional feature space.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  <a:ea typeface="Söhne"/>
                <a:cs typeface="Söhne"/>
              </a:rPr>
              <a:t>Linear kernels simply compute the dot product between data points in the input space.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  <a:ea typeface="Söhne"/>
                <a:cs typeface="Söhne"/>
              </a:rPr>
              <a:t>Polynomial kernels capture polynomial relationships, allowing SVM to model curved decision boundaries.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  <a:ea typeface="Söhne"/>
                <a:cs typeface="Söhne"/>
              </a:rPr>
              <a:t>Radial basis function (RBF) kernels create flexible, non-linear decision boundaries, suitable for complex data distributions.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  <a:ea typeface="Söhne"/>
                <a:cs typeface="Söhne"/>
              </a:rPr>
              <a:t>Kernels enable SVM to work effectively in high-dimensional spaces, simplifying classification by projecting data into spaces where classes are more separable.</a:t>
            </a:r>
          </a:p>
        </p:txBody>
      </p:sp>
    </p:spTree>
    <p:extLst>
      <p:ext uri="{BB962C8B-B14F-4D97-AF65-F5344CB8AC3E}">
        <p14:creationId xmlns:p14="http://schemas.microsoft.com/office/powerpoint/2010/main" val="215841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4310534" y="345123"/>
            <a:ext cx="33816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Kernel Trick</a:t>
            </a:r>
            <a:endParaRPr lang="en-US" dirty="0"/>
          </a:p>
        </p:txBody>
      </p:sp>
      <p:pic>
        <p:nvPicPr>
          <p:cNvPr id="3" name="Picture 2" descr="What is the kernel trick? Why is it important? | by Grace Zhang | Medium">
            <a:extLst>
              <a:ext uri="{FF2B5EF4-FFF2-40B4-BE49-F238E27FC236}">
                <a16:creationId xmlns:a16="http://schemas.microsoft.com/office/drawing/2014/main" id="{88E90609-0C79-201D-DCB9-4168C753E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1" y="1307524"/>
            <a:ext cx="10504308" cy="417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391423" y="344835"/>
            <a:ext cx="741180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K-Nearest Neighbors (KNN)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8D89D-1011-E0A3-B14F-88EE1E763F7F}"/>
              </a:ext>
            </a:extLst>
          </p:cNvPr>
          <p:cNvSpPr txBox="1"/>
          <p:nvPr/>
        </p:nvSpPr>
        <p:spPr>
          <a:xfrm>
            <a:off x="688869" y="1340678"/>
            <a:ext cx="11091332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K-Nearest Neighbors (KNN)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is a versatile supervised learning algorithm for both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classification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and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regression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tasks. It operates based on the following principles:</a:t>
            </a:r>
            <a:endParaRPr lang="en-US" sz="2200" dirty="0"/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Classification: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Assigns a data point to a class by considering the majority class among its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k-nearest neighbors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, where "k" is a user-defined parameter.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Assumes that similar data points in feature space belong to the same class.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KNN's simplicity makes it an excellent choice for certain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366880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391423" y="344835"/>
            <a:ext cx="741180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K-Nearest Neighbors (KNN)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8D89D-1011-E0A3-B14F-88EE1E763F7F}"/>
              </a:ext>
            </a:extLst>
          </p:cNvPr>
          <p:cNvSpPr txBox="1"/>
          <p:nvPr/>
        </p:nvSpPr>
        <p:spPr>
          <a:xfrm>
            <a:off x="688869" y="1272945"/>
            <a:ext cx="11345332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Regression:</a:t>
            </a:r>
            <a:endParaRPr lang="en-US" sz="2200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Predicts a data point's value by averaging the target values of its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k-nearest neighbors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Suitable for making predictions involving continuous or numeric outcomes.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Like in classification, the choice of "k" significantly influences the model's predictive performance.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In both cases, 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selecting an appropriate "k" value and distance metric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is crucial for achieving accurate results.</a:t>
            </a:r>
          </a:p>
        </p:txBody>
      </p:sp>
    </p:spTree>
    <p:extLst>
      <p:ext uri="{BB962C8B-B14F-4D97-AF65-F5344CB8AC3E}">
        <p14:creationId xmlns:p14="http://schemas.microsoft.com/office/powerpoint/2010/main" val="375588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391423" y="344835"/>
            <a:ext cx="741180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K-Nearest Neighbors (KNN)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pic>
        <p:nvPicPr>
          <p:cNvPr id="3" name="Picture 2" descr="K-Nearest Neighbor(KNN) Algorithm for Machine Learning - Javatpoint">
            <a:extLst>
              <a:ext uri="{FF2B5EF4-FFF2-40B4-BE49-F238E27FC236}">
                <a16:creationId xmlns:a16="http://schemas.microsoft.com/office/drawing/2014/main" id="{BE7F6C93-148A-C656-42BC-AE411CBB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911" y="1487655"/>
            <a:ext cx="5867502" cy="469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3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192934" y="344835"/>
            <a:ext cx="58031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KNN Algorithm Steps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9E7FC-C511-3B11-2526-03CCD947A79D}"/>
              </a:ext>
            </a:extLst>
          </p:cNvPr>
          <p:cNvSpPr txBox="1"/>
          <p:nvPr/>
        </p:nvSpPr>
        <p:spPr>
          <a:xfrm>
            <a:off x="620643" y="1193431"/>
            <a:ext cx="11079552" cy="5122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Select the Number of Neighbors (k)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: Choose the value of k, the number of nearest neighbors to consider.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Calculate Distances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: Compute the distance between the data point to classify and all other data points.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Identify Nearest Neighbors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: Choose the k data points with the shortest distances as the nearest neighbors.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Majority Voting (Classification)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: In classification, predict the class based on the majority class of the nearest neighbors.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Average (Regression)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: In regression, predict the target value by averaging the values of the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2339548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634134" y="457725"/>
            <a:ext cx="69207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Role of Nearest Neighbors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9E7FC-C511-3B11-2526-03CCD947A79D}"/>
              </a:ext>
            </a:extLst>
          </p:cNvPr>
          <p:cNvSpPr txBox="1"/>
          <p:nvPr/>
        </p:nvSpPr>
        <p:spPr>
          <a:xfrm>
            <a:off x="1094776" y="1938498"/>
            <a:ext cx="10249819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Influence Predictions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Nearest neighbors impact a data point's prediction.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Local Insights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They reveal nearby data characteristics.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Weighted Voting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Proximity-based weighting may apply.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 Value Matters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Choice of k influences prediction sensitivity.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344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802534" y="457725"/>
            <a:ext cx="45839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Distance Metrics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E665D-E9AD-0526-40EA-39C409DC96C5}"/>
              </a:ext>
            </a:extLst>
          </p:cNvPr>
          <p:cNvSpPr txBox="1"/>
          <p:nvPr/>
        </p:nvSpPr>
        <p:spPr>
          <a:xfrm>
            <a:off x="967409" y="1610139"/>
            <a:ext cx="8537345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Measure Similarity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Quantify the dissimilarity between data points.</a:t>
            </a:r>
            <a:endParaRPr lang="en-US" sz="2200"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Euclidean Distance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Straight-line distance in space.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Manhattan Distance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Sum of absolute differences.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Minkowski Distance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Generalized metric based on parameter p.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Distance metrics gauge data similarity and are essential for clustering and classification algorithms.</a:t>
            </a:r>
          </a:p>
        </p:txBody>
      </p:sp>
    </p:spTree>
    <p:extLst>
      <p:ext uri="{BB962C8B-B14F-4D97-AF65-F5344CB8AC3E}">
        <p14:creationId xmlns:p14="http://schemas.microsoft.com/office/powerpoint/2010/main" val="3236210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802534" y="322258"/>
            <a:ext cx="45839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Distance Metrics</a:t>
            </a:r>
            <a:endParaRPr lang="en-US" dirty="0"/>
          </a:p>
        </p:txBody>
      </p:sp>
      <p:pic>
        <p:nvPicPr>
          <p:cNvPr id="2" name="Picture 1" descr="Introduction to Classification Using K Nearest Neighbours | by Ashwin Raj |  Towards Data Science">
            <a:extLst>
              <a:ext uri="{FF2B5EF4-FFF2-40B4-BE49-F238E27FC236}">
                <a16:creationId xmlns:a16="http://schemas.microsoft.com/office/drawing/2014/main" id="{F1F85199-6BAB-1333-C6EE-0565AD6B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68" y="984018"/>
            <a:ext cx="7958665" cy="587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72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938934" y="234769"/>
            <a:ext cx="63111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Selecting the Value of K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2CDC4-B013-E762-FAD3-AEFC2E2B1BB2}"/>
              </a:ext>
            </a:extLst>
          </p:cNvPr>
          <p:cNvSpPr txBox="1"/>
          <p:nvPr/>
        </p:nvSpPr>
        <p:spPr>
          <a:xfrm>
            <a:off x="817218" y="1270246"/>
            <a:ext cx="1055903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</a:rPr>
              <a:t>The number of nearest neighbors (K) is crucial.</a:t>
            </a:r>
            <a:endParaRPr lang="en-US" sz="2200" dirty="0">
              <a:latin typeface="Nunito"/>
              <a:ea typeface="Calibri" panose="020F0502020204030204"/>
              <a:cs typeface="Calibri" panose="020F0502020204030204"/>
            </a:endParaRPr>
          </a:p>
          <a:p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Small K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</a:p>
          <a:p>
            <a:pPr marL="742950" lvl="2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Low bias, high variance.</a:t>
            </a:r>
          </a:p>
          <a:p>
            <a:pPr marL="742950" lvl="2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Prone to overfitting.</a:t>
            </a: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Large K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</a:p>
          <a:p>
            <a:pPr marL="742950" lvl="2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High bias, low variance.</a:t>
            </a:r>
          </a:p>
          <a:p>
            <a:pPr marL="742950" lvl="2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Smoother but may underfit.</a:t>
            </a:r>
          </a:p>
          <a:p>
            <a:pPr marL="742950" lvl="2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Optimal K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Found through cross-validation.</a:t>
            </a:r>
          </a:p>
          <a:p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Impact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K affects bias and variance.</a:t>
            </a:r>
          </a:p>
          <a:p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Trade-offs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Balance is needed for a well-generalized model.</a:t>
            </a:r>
          </a:p>
        </p:txBody>
      </p:sp>
    </p:spTree>
    <p:extLst>
      <p:ext uri="{BB962C8B-B14F-4D97-AF65-F5344CB8AC3E}">
        <p14:creationId xmlns:p14="http://schemas.microsoft.com/office/powerpoint/2010/main" val="2041959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2664390" y="235057"/>
            <a:ext cx="686583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Hands-on: KNN Classifier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2CDC4-B013-E762-FAD3-AEFC2E2B1BB2}"/>
              </a:ext>
            </a:extLst>
          </p:cNvPr>
          <p:cNvSpPr txBox="1"/>
          <p:nvPr/>
        </p:nvSpPr>
        <p:spPr>
          <a:xfrm>
            <a:off x="817218" y="1270246"/>
            <a:ext cx="10559037" cy="1573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Implement the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K-Nearest Neighbors (KNN) algorithm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for classification using the Iris dataset, along with visualizing and interpreting the results. Choose the value of K.</a:t>
            </a: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0828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688</cp:revision>
  <dcterms:created xsi:type="dcterms:W3CDTF">2020-12-23T13:36:00Z</dcterms:created>
  <dcterms:modified xsi:type="dcterms:W3CDTF">2024-07-16T07:42:52Z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